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1" r:id="rId5"/>
    <p:sldId id="262"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3595"/>
    <a:srgbClr val="FF33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fr-FR"/>
              <a:t>Modifiez le style du titre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a:xfrm>
            <a:off x="2692397" y="5037663"/>
            <a:ext cx="5214635" cy="279400"/>
          </a:xfrm>
        </p:spPr>
        <p:txBody>
          <a:bodyPr/>
          <a:lstStyle/>
          <a:p>
            <a:endParaRPr lang="fr-MA"/>
          </a:p>
        </p:txBody>
      </p:sp>
      <p:sp>
        <p:nvSpPr>
          <p:cNvPr id="6" name="Slide Number Placeholder 5"/>
          <p:cNvSpPr>
            <a:spLocks noGrp="1"/>
          </p:cNvSpPr>
          <p:nvPr>
            <p:ph type="sldNum" sz="quarter" idx="12"/>
          </p:nvPr>
        </p:nvSpPr>
        <p:spPr>
          <a:xfrm>
            <a:off x="8956900" y="5037663"/>
            <a:ext cx="551167" cy="279400"/>
          </a:xfrm>
        </p:spPr>
        <p:txBody>
          <a:bodyPr/>
          <a:lstStyle/>
          <a:p>
            <a:fld id="{93EE6D67-0A02-4E82-A2ED-C13FB02C440D}" type="slidenum">
              <a:rPr lang="fr-MA" smtClean="0"/>
              <a:t>‹N°›</a:t>
            </a:fld>
            <a:endParaRPr lang="fr-MA"/>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444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spTree>
    <p:extLst>
      <p:ext uri="{BB962C8B-B14F-4D97-AF65-F5344CB8AC3E}">
        <p14:creationId xmlns:p14="http://schemas.microsoft.com/office/powerpoint/2010/main" val="153672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fr-FR"/>
              <a:t>Modifiez le style du titre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3006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15AFC09-FE81-4CD2-B4CE-04B866718603}" type="datetimeFigureOut">
              <a:rPr lang="fr-MA" smtClean="0"/>
              <a:t>25/11/2019</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93EE6D67-0A02-4E82-A2ED-C13FB02C440D}" type="slidenum">
              <a:rPr lang="fr-MA" smtClean="0"/>
              <a:t>‹N°›</a:t>
            </a:fld>
            <a:endParaRPr lang="fr-MA"/>
          </a:p>
        </p:txBody>
      </p:sp>
    </p:spTree>
    <p:extLst>
      <p:ext uri="{BB962C8B-B14F-4D97-AF65-F5344CB8AC3E}">
        <p14:creationId xmlns:p14="http://schemas.microsoft.com/office/powerpoint/2010/main" val="1466682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15AFC09-FE81-4CD2-B4CE-04B866718603}" type="datetimeFigureOut">
              <a:rPr lang="fr-MA" smtClean="0"/>
              <a:t>25/11/2019</a:t>
            </a:fld>
            <a:endParaRPr lang="fr-MA"/>
          </a:p>
        </p:txBody>
      </p:sp>
      <p:sp>
        <p:nvSpPr>
          <p:cNvPr id="8" name="Footer Placeholder 7"/>
          <p:cNvSpPr>
            <a:spLocks noGrp="1"/>
          </p:cNvSpPr>
          <p:nvPr>
            <p:ph type="ftr" sz="quarter" idx="11"/>
          </p:nvPr>
        </p:nvSpPr>
        <p:spPr/>
        <p:txBody>
          <a:bodyPr/>
          <a:lstStyle/>
          <a:p>
            <a:endParaRPr lang="fr-MA"/>
          </a:p>
        </p:txBody>
      </p:sp>
      <p:sp>
        <p:nvSpPr>
          <p:cNvPr id="9" name="Slide Number Placeholder 8"/>
          <p:cNvSpPr>
            <a:spLocks noGrp="1"/>
          </p:cNvSpPr>
          <p:nvPr>
            <p:ph type="sldNum" sz="quarter" idx="12"/>
          </p:nvPr>
        </p:nvSpPr>
        <p:spPr/>
        <p:txBody>
          <a:bodyPr/>
          <a:lstStyle/>
          <a:p>
            <a:fld id="{93EE6D67-0A02-4E82-A2ED-C13FB02C440D}" type="slidenum">
              <a:rPr lang="fr-MA" smtClean="0"/>
              <a:t>‹N°›</a:t>
            </a:fld>
            <a:endParaRPr lang="fr-MA"/>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6611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15AFC09-FE81-4CD2-B4CE-04B866718603}" type="datetimeFigureOut">
              <a:rPr lang="fr-MA" smtClean="0"/>
              <a:t>25/11/2019</a:t>
            </a:fld>
            <a:endParaRPr lang="fr-MA"/>
          </a:p>
        </p:txBody>
      </p:sp>
      <p:sp>
        <p:nvSpPr>
          <p:cNvPr id="4" name="Footer Placeholder 3"/>
          <p:cNvSpPr>
            <a:spLocks noGrp="1"/>
          </p:cNvSpPr>
          <p:nvPr>
            <p:ph type="ftr" sz="quarter" idx="11"/>
          </p:nvPr>
        </p:nvSpPr>
        <p:spPr/>
        <p:txBody>
          <a:bodyPr/>
          <a:lstStyle/>
          <a:p>
            <a:endParaRPr lang="fr-MA"/>
          </a:p>
        </p:txBody>
      </p:sp>
      <p:sp>
        <p:nvSpPr>
          <p:cNvPr id="5" name="Slide Number Placeholder 4"/>
          <p:cNvSpPr>
            <a:spLocks noGrp="1"/>
          </p:cNvSpPr>
          <p:nvPr>
            <p:ph type="sldNum" sz="quarter" idx="12"/>
          </p:nvPr>
        </p:nvSpPr>
        <p:spPr/>
        <p:txBody>
          <a:bodyPr/>
          <a:lstStyle/>
          <a:p>
            <a:fld id="{93EE6D67-0A02-4E82-A2ED-C13FB02C440D}" type="slidenum">
              <a:rPr lang="fr-MA" smtClean="0"/>
              <a:t>‹N°›</a:t>
            </a:fld>
            <a:endParaRPr lang="fr-M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2232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5AFC09-FE81-4CD2-B4CE-04B866718603}" type="datetimeFigureOut">
              <a:rPr lang="fr-MA" smtClean="0"/>
              <a:t>25/11/2019</a:t>
            </a:fld>
            <a:endParaRPr lang="fr-MA"/>
          </a:p>
        </p:txBody>
      </p:sp>
      <p:sp>
        <p:nvSpPr>
          <p:cNvPr id="3" name="Footer Placeholder 2"/>
          <p:cNvSpPr>
            <a:spLocks noGrp="1"/>
          </p:cNvSpPr>
          <p:nvPr>
            <p:ph type="ftr" sz="quarter" idx="11"/>
          </p:nvPr>
        </p:nvSpPr>
        <p:spPr/>
        <p:txBody>
          <a:bodyPr/>
          <a:lstStyle/>
          <a:p>
            <a:endParaRPr lang="fr-MA"/>
          </a:p>
        </p:txBody>
      </p:sp>
      <p:sp>
        <p:nvSpPr>
          <p:cNvPr id="4" name="Slide Number Placeholder 3"/>
          <p:cNvSpPr>
            <a:spLocks noGrp="1"/>
          </p:cNvSpPr>
          <p:nvPr>
            <p:ph type="sldNum" sz="quarter" idx="12"/>
          </p:nvPr>
        </p:nvSpPr>
        <p:spPr/>
        <p:txBody>
          <a:bodyPr/>
          <a:lstStyle/>
          <a:p>
            <a:fld id="{93EE6D67-0A02-4E82-A2ED-C13FB02C440D}" type="slidenum">
              <a:rPr lang="fr-MA" smtClean="0"/>
              <a:t>‹N°›</a:t>
            </a:fld>
            <a:endParaRPr lang="fr-MA"/>
          </a:p>
        </p:txBody>
      </p:sp>
    </p:spTree>
    <p:extLst>
      <p:ext uri="{BB962C8B-B14F-4D97-AF65-F5344CB8AC3E}">
        <p14:creationId xmlns:p14="http://schemas.microsoft.com/office/powerpoint/2010/main" val="3735533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15AFC09-FE81-4CD2-B4CE-04B866718603}" type="datetimeFigureOut">
              <a:rPr lang="fr-MA" smtClean="0"/>
              <a:t>25/11/2019</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93EE6D67-0A02-4E82-A2ED-C13FB02C440D}" type="slidenum">
              <a:rPr lang="fr-MA" smtClean="0"/>
              <a:t>‹N°›</a:t>
            </a:fld>
            <a:endParaRPr lang="fr-MA"/>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2200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fr-FR"/>
              <a:t>Modifiez le style du titre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15AFC09-FE81-4CD2-B4CE-04B866718603}" type="datetimeFigureOut">
              <a:rPr lang="fr-MA" smtClean="0"/>
              <a:t>25/11/2019</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93EE6D67-0A02-4E82-A2ED-C13FB02C440D}" type="slidenum">
              <a:rPr lang="fr-MA" smtClean="0"/>
              <a:t>‹N°›</a:t>
            </a:fld>
            <a:endParaRPr lang="fr-MA"/>
          </a:p>
        </p:txBody>
      </p:sp>
    </p:spTree>
    <p:extLst>
      <p:ext uri="{BB962C8B-B14F-4D97-AF65-F5344CB8AC3E}">
        <p14:creationId xmlns:p14="http://schemas.microsoft.com/office/powerpoint/2010/main" val="623195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15AFC09-FE81-4CD2-B4CE-04B866718603}" type="datetimeFigureOut">
              <a:rPr lang="fr-MA" smtClean="0"/>
              <a:t>25/11/2019</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93EE6D67-0A02-4E82-A2ED-C13FB02C440D}" type="slidenum">
              <a:rPr lang="fr-MA" smtClean="0"/>
              <a:t>‹N°›</a:t>
            </a:fld>
            <a:endParaRPr lang="fr-MA"/>
          </a:p>
        </p:txBody>
      </p:sp>
    </p:spTree>
    <p:extLst>
      <p:ext uri="{BB962C8B-B14F-4D97-AF65-F5344CB8AC3E}">
        <p14:creationId xmlns:p14="http://schemas.microsoft.com/office/powerpoint/2010/main" val="223930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2567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19479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spTree>
    <p:extLst>
      <p:ext uri="{BB962C8B-B14F-4D97-AF65-F5344CB8AC3E}">
        <p14:creationId xmlns:p14="http://schemas.microsoft.com/office/powerpoint/2010/main" val="2380977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1396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0475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4952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15AFC09-FE81-4CD2-B4CE-04B866718603}" type="datetimeFigureOut">
              <a:rPr lang="fr-MA" smtClean="0"/>
              <a:t>25/11/2019</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93EE6D67-0A02-4E82-A2ED-C13FB02C440D}" type="slidenum">
              <a:rPr lang="fr-MA" smtClean="0"/>
              <a:t>‹N°›</a:t>
            </a:fld>
            <a:endParaRPr lang="fr-MA"/>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037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5AFC09-FE81-4CD2-B4CE-04B866718603}" type="datetimeFigureOut">
              <a:rPr lang="fr-MA" smtClean="0"/>
              <a:t>25/11/2019</a:t>
            </a:fld>
            <a:endParaRPr lang="fr-MA"/>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fr-MA"/>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3EE6D67-0A02-4E82-A2ED-C13FB02C440D}" type="slidenum">
              <a:rPr lang="fr-MA" smtClean="0"/>
              <a:t>‹N°›</a:t>
            </a:fld>
            <a:endParaRPr lang="fr-MA"/>
          </a:p>
        </p:txBody>
      </p:sp>
    </p:spTree>
    <p:extLst>
      <p:ext uri="{BB962C8B-B14F-4D97-AF65-F5344CB8AC3E}">
        <p14:creationId xmlns:p14="http://schemas.microsoft.com/office/powerpoint/2010/main" val="370651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g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EE0F2D-80A7-47A9-9304-25EAB002EB39}"/>
              </a:ext>
            </a:extLst>
          </p:cNvPr>
          <p:cNvSpPr>
            <a:spLocks noGrp="1"/>
          </p:cNvSpPr>
          <p:nvPr>
            <p:ph type="ctrTitle"/>
          </p:nvPr>
        </p:nvSpPr>
        <p:spPr>
          <a:xfrm>
            <a:off x="1524000" y="292231"/>
            <a:ext cx="9144000" cy="3217732"/>
          </a:xfrm>
        </p:spPr>
        <p:txBody>
          <a:bodyPr>
            <a:normAutofit/>
          </a:bodyPr>
          <a:lstStyle/>
          <a:p>
            <a:r>
              <a:rPr lang="fr-MA" dirty="0">
                <a:solidFill>
                  <a:srgbClr val="FF0000"/>
                </a:solidFill>
              </a:rPr>
              <a:t>la différence entre :</a:t>
            </a:r>
            <a:br>
              <a:rPr lang="fr-MA" dirty="0">
                <a:solidFill>
                  <a:srgbClr val="FF0000"/>
                </a:solidFill>
              </a:rPr>
            </a:br>
            <a:endParaRPr lang="fr-MA" dirty="0">
              <a:solidFill>
                <a:srgbClr val="FF0000"/>
              </a:solidFill>
            </a:endParaRPr>
          </a:p>
        </p:txBody>
      </p:sp>
      <p:sp>
        <p:nvSpPr>
          <p:cNvPr id="3" name="Sous-titre 2">
            <a:extLst>
              <a:ext uri="{FF2B5EF4-FFF2-40B4-BE49-F238E27FC236}">
                <a16:creationId xmlns:a16="http://schemas.microsoft.com/office/drawing/2014/main" id="{E1F77F40-E455-4637-9A18-63357F444153}"/>
              </a:ext>
            </a:extLst>
          </p:cNvPr>
          <p:cNvSpPr>
            <a:spLocks noGrp="1"/>
          </p:cNvSpPr>
          <p:nvPr>
            <p:ph type="subTitle" idx="1"/>
          </p:nvPr>
        </p:nvSpPr>
        <p:spPr>
          <a:xfrm>
            <a:off x="1901072" y="3733014"/>
            <a:ext cx="8543827" cy="1395168"/>
          </a:xfrm>
        </p:spPr>
        <p:txBody>
          <a:bodyPr>
            <a:normAutofit fontScale="92500" lnSpcReduction="10000"/>
          </a:bodyPr>
          <a:lstStyle/>
          <a:p>
            <a:r>
              <a:rPr lang="fr-MA" sz="4800" dirty="0">
                <a:solidFill>
                  <a:srgbClr val="CB3595"/>
                </a:solidFill>
              </a:rPr>
              <a:t>zoning , wireframe , maquette , prototype et </a:t>
            </a:r>
            <a:r>
              <a:rPr lang="fr-MA" sz="4800" dirty="0" err="1">
                <a:solidFill>
                  <a:srgbClr val="CB3595"/>
                </a:solidFill>
              </a:rPr>
              <a:t>mockup</a:t>
            </a:r>
            <a:r>
              <a:rPr lang="fr-MA" sz="4800" dirty="0">
                <a:solidFill>
                  <a:srgbClr val="CB3595"/>
                </a:solidFill>
              </a:rPr>
              <a:t> </a:t>
            </a:r>
          </a:p>
        </p:txBody>
      </p:sp>
    </p:spTree>
    <p:extLst>
      <p:ext uri="{BB962C8B-B14F-4D97-AF65-F5344CB8AC3E}">
        <p14:creationId xmlns:p14="http://schemas.microsoft.com/office/powerpoint/2010/main" val="118000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B685E-5B79-4364-9B71-D648F8E9BA62}"/>
              </a:ext>
            </a:extLst>
          </p:cNvPr>
          <p:cNvSpPr>
            <a:spLocks noGrp="1"/>
          </p:cNvSpPr>
          <p:nvPr>
            <p:ph type="title"/>
          </p:nvPr>
        </p:nvSpPr>
        <p:spPr/>
        <p:txBody>
          <a:bodyPr>
            <a:normAutofit fontScale="90000"/>
          </a:bodyPr>
          <a:lstStyle/>
          <a:p>
            <a:r>
              <a:rPr lang="fr-MA" b="1" dirty="0"/>
              <a:t>Qu’est-ce qu’un zoning ?</a:t>
            </a:r>
            <a:br>
              <a:rPr lang="fr-MA" b="1" dirty="0"/>
            </a:br>
            <a:endParaRPr lang="fr-MA" dirty="0"/>
          </a:p>
        </p:txBody>
      </p:sp>
      <p:sp>
        <p:nvSpPr>
          <p:cNvPr id="3" name="Espace réservé du contenu 2">
            <a:extLst>
              <a:ext uri="{FF2B5EF4-FFF2-40B4-BE49-F238E27FC236}">
                <a16:creationId xmlns:a16="http://schemas.microsoft.com/office/drawing/2014/main" id="{3C7E1200-7FD2-4322-9722-1DF6902EEB16}"/>
              </a:ext>
            </a:extLst>
          </p:cNvPr>
          <p:cNvSpPr>
            <a:spLocks noGrp="1"/>
          </p:cNvSpPr>
          <p:nvPr>
            <p:ph idx="1"/>
          </p:nvPr>
        </p:nvSpPr>
        <p:spPr/>
        <p:txBody>
          <a:bodyPr/>
          <a:lstStyle/>
          <a:p>
            <a:endParaRPr lang="fr-FR" dirty="0"/>
          </a:p>
          <a:p>
            <a:r>
              <a:rPr lang="fr-FR" dirty="0"/>
              <a:t>Le </a:t>
            </a:r>
            <a:r>
              <a:rPr lang="fr-FR" b="1" dirty="0"/>
              <a:t>zoning</a:t>
            </a:r>
            <a:r>
              <a:rPr lang="fr-FR" dirty="0"/>
              <a:t> détermine la structure des pages clés du futur site web. Sous forme de schémas très simples, </a:t>
            </a:r>
            <a:r>
              <a:rPr lang="fr-FR" b="1" dirty="0"/>
              <a:t>il indique l’emplacement des principaux éléments du gabarit</a:t>
            </a:r>
            <a:r>
              <a:rPr lang="fr-FR" dirty="0"/>
              <a:t> (le modèle type d’une page web) tels que menu, logo, visuels, sidebar, </a:t>
            </a:r>
            <a:r>
              <a:rPr lang="fr-FR" dirty="0" err="1"/>
              <a:t>footer</a:t>
            </a:r>
            <a:r>
              <a:rPr lang="fr-FR" dirty="0"/>
              <a:t>… Les textes finaux, les couleurs et les détails graphiques n’apparaissent pas à ce stade.</a:t>
            </a:r>
            <a:endParaRPr lang="fr-MA" dirty="0"/>
          </a:p>
        </p:txBody>
      </p:sp>
    </p:spTree>
    <p:extLst>
      <p:ext uri="{BB962C8B-B14F-4D97-AF65-F5344CB8AC3E}">
        <p14:creationId xmlns:p14="http://schemas.microsoft.com/office/powerpoint/2010/main" val="417048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80">
                                          <p:stCondLst>
                                            <p:cond delay="0"/>
                                          </p:stCondLst>
                                        </p:cTn>
                                        <p:tgtEl>
                                          <p:spTgt spid="3">
                                            <p:txEl>
                                              <p:pRg st="1" end="1"/>
                                            </p:txEl>
                                          </p:spTgt>
                                        </p:tgtEl>
                                      </p:cBhvr>
                                    </p:animEffect>
                                    <p:anim calcmode="lin" valueType="num">
                                      <p:cBhvr>
                                        <p:cTn id="1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1" end="1"/>
                                            </p:txEl>
                                          </p:spTgt>
                                        </p:tgtEl>
                                      </p:cBhvr>
                                      <p:to x="100000" y="60000"/>
                                    </p:animScale>
                                    <p:animScale>
                                      <p:cBhvr>
                                        <p:cTn id="20" dur="166" decel="50000">
                                          <p:stCondLst>
                                            <p:cond delay="676"/>
                                          </p:stCondLst>
                                        </p:cTn>
                                        <p:tgtEl>
                                          <p:spTgt spid="3">
                                            <p:txEl>
                                              <p:pRg st="1" end="1"/>
                                            </p:txEl>
                                          </p:spTgt>
                                        </p:tgtEl>
                                      </p:cBhvr>
                                      <p:to x="100000" y="100000"/>
                                    </p:animScale>
                                    <p:animScale>
                                      <p:cBhvr>
                                        <p:cTn id="21" dur="26">
                                          <p:stCondLst>
                                            <p:cond delay="1312"/>
                                          </p:stCondLst>
                                        </p:cTn>
                                        <p:tgtEl>
                                          <p:spTgt spid="3">
                                            <p:txEl>
                                              <p:pRg st="1" end="1"/>
                                            </p:txEl>
                                          </p:spTgt>
                                        </p:tgtEl>
                                      </p:cBhvr>
                                      <p:to x="100000" y="80000"/>
                                    </p:animScale>
                                    <p:animScale>
                                      <p:cBhvr>
                                        <p:cTn id="22" dur="166" decel="50000">
                                          <p:stCondLst>
                                            <p:cond delay="1338"/>
                                          </p:stCondLst>
                                        </p:cTn>
                                        <p:tgtEl>
                                          <p:spTgt spid="3">
                                            <p:txEl>
                                              <p:pRg st="1" end="1"/>
                                            </p:txEl>
                                          </p:spTgt>
                                        </p:tgtEl>
                                      </p:cBhvr>
                                      <p:to x="100000" y="100000"/>
                                    </p:animScale>
                                    <p:animScale>
                                      <p:cBhvr>
                                        <p:cTn id="23" dur="26">
                                          <p:stCondLst>
                                            <p:cond delay="1642"/>
                                          </p:stCondLst>
                                        </p:cTn>
                                        <p:tgtEl>
                                          <p:spTgt spid="3">
                                            <p:txEl>
                                              <p:pRg st="1" end="1"/>
                                            </p:txEl>
                                          </p:spTgt>
                                        </p:tgtEl>
                                      </p:cBhvr>
                                      <p:to x="100000" y="90000"/>
                                    </p:animScale>
                                    <p:animScale>
                                      <p:cBhvr>
                                        <p:cTn id="24" dur="166" decel="50000">
                                          <p:stCondLst>
                                            <p:cond delay="1668"/>
                                          </p:stCondLst>
                                        </p:cTn>
                                        <p:tgtEl>
                                          <p:spTgt spid="3">
                                            <p:txEl>
                                              <p:pRg st="1" end="1"/>
                                            </p:txEl>
                                          </p:spTgt>
                                        </p:tgtEl>
                                      </p:cBhvr>
                                      <p:to x="100000" y="100000"/>
                                    </p:animScale>
                                    <p:animScale>
                                      <p:cBhvr>
                                        <p:cTn id="25" dur="26">
                                          <p:stCondLst>
                                            <p:cond delay="1808"/>
                                          </p:stCondLst>
                                        </p:cTn>
                                        <p:tgtEl>
                                          <p:spTgt spid="3">
                                            <p:txEl>
                                              <p:pRg st="1" end="1"/>
                                            </p:txEl>
                                          </p:spTgt>
                                        </p:tgtEl>
                                      </p:cBhvr>
                                      <p:to x="100000" y="95000"/>
                                    </p:animScale>
                                    <p:animScale>
                                      <p:cBhvr>
                                        <p:cTn id="26"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17B2A2-1F98-405F-8816-5C12C844C220}"/>
              </a:ext>
            </a:extLst>
          </p:cNvPr>
          <p:cNvSpPr>
            <a:spLocks noGrp="1"/>
          </p:cNvSpPr>
          <p:nvPr>
            <p:ph type="title"/>
          </p:nvPr>
        </p:nvSpPr>
        <p:spPr/>
        <p:txBody>
          <a:bodyPr>
            <a:normAutofit/>
          </a:bodyPr>
          <a:lstStyle/>
          <a:p>
            <a:r>
              <a:rPr lang="fr-MA" dirty="0"/>
              <a:t>Exemple 1</a:t>
            </a:r>
          </a:p>
        </p:txBody>
      </p:sp>
      <p:pic>
        <p:nvPicPr>
          <p:cNvPr id="6" name="Espace réservé du contenu 5">
            <a:extLst>
              <a:ext uri="{FF2B5EF4-FFF2-40B4-BE49-F238E27FC236}">
                <a16:creationId xmlns:a16="http://schemas.microsoft.com/office/drawing/2014/main" id="{33319BB8-52EB-4961-B3C7-99AD937808A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48966" y="2560638"/>
            <a:ext cx="4980494" cy="3309937"/>
          </a:xfrm>
        </p:spPr>
      </p:pic>
      <p:pic>
        <p:nvPicPr>
          <p:cNvPr id="8" name="Espace réservé du contenu 7">
            <a:extLst>
              <a:ext uri="{FF2B5EF4-FFF2-40B4-BE49-F238E27FC236}">
                <a16:creationId xmlns:a16="http://schemas.microsoft.com/office/drawing/2014/main" id="{63669AF7-BDE2-40A7-A68E-9B1488E3D6D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96001" y="2591594"/>
            <a:ext cx="4980494" cy="3248025"/>
          </a:xfrm>
        </p:spPr>
      </p:pic>
    </p:spTree>
    <p:extLst>
      <p:ext uri="{BB962C8B-B14F-4D97-AF65-F5344CB8AC3E}">
        <p14:creationId xmlns:p14="http://schemas.microsoft.com/office/powerpoint/2010/main" val="201829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2000" fill="hold"/>
                                        <p:tgtEl>
                                          <p:spTgt spid="2"/>
                                        </p:tgtEl>
                                        <p:attrNameLst>
                                          <p:attrName>fillcolor</p:attrName>
                                        </p:attrNameLst>
                                      </p:cBhvr>
                                      <p:to>
                                        <a:schemeClr val="accent2"/>
                                      </p:to>
                                    </p:animClr>
                                    <p:set>
                                      <p:cBhvr>
                                        <p:cTn id="7" dur="2000" fill="hold"/>
                                        <p:tgtEl>
                                          <p:spTgt spid="2"/>
                                        </p:tgtEl>
                                        <p:attrNameLst>
                                          <p:attrName>fill.type</p:attrName>
                                        </p:attrNameLst>
                                      </p:cBhvr>
                                      <p:to>
                                        <p:strVal val="solid"/>
                                      </p:to>
                                    </p:set>
                                    <p:set>
                                      <p:cBhvr>
                                        <p:cTn id="8" dur="2000" fill="hold"/>
                                        <p:tgtEl>
                                          <p:spTgt spid="2"/>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720F2C-6A4F-4102-AECA-CB8056E151BD}"/>
              </a:ext>
            </a:extLst>
          </p:cNvPr>
          <p:cNvSpPr>
            <a:spLocks noGrp="1"/>
          </p:cNvSpPr>
          <p:nvPr>
            <p:ph type="title"/>
          </p:nvPr>
        </p:nvSpPr>
        <p:spPr/>
        <p:txBody>
          <a:bodyPr/>
          <a:lstStyle/>
          <a:p>
            <a:r>
              <a:rPr lang="fr-MA" b="1" cap="all" dirty="0"/>
              <a:t>QU’EST-CE QUE LE WIREFRAME ?</a:t>
            </a:r>
            <a:endParaRPr lang="fr-MA" dirty="0"/>
          </a:p>
        </p:txBody>
      </p:sp>
      <p:sp>
        <p:nvSpPr>
          <p:cNvPr id="3" name="Espace réservé du contenu 2">
            <a:extLst>
              <a:ext uri="{FF2B5EF4-FFF2-40B4-BE49-F238E27FC236}">
                <a16:creationId xmlns:a16="http://schemas.microsoft.com/office/drawing/2014/main" id="{B970FFD0-6A04-428F-AFE5-0242CE353DF1}"/>
              </a:ext>
            </a:extLst>
          </p:cNvPr>
          <p:cNvSpPr>
            <a:spLocks noGrp="1"/>
          </p:cNvSpPr>
          <p:nvPr>
            <p:ph idx="1"/>
          </p:nvPr>
        </p:nvSpPr>
        <p:spPr/>
        <p:txBody>
          <a:bodyPr/>
          <a:lstStyle/>
          <a:p>
            <a:pPr fontAlgn="base"/>
            <a:r>
              <a:rPr lang="fr-FR" dirty="0"/>
              <a:t>Le </a:t>
            </a:r>
            <a:r>
              <a:rPr lang="fr-FR" b="1" dirty="0"/>
              <a:t>wireframe</a:t>
            </a:r>
            <a:r>
              <a:rPr lang="fr-FR" dirty="0"/>
              <a:t> (on parle de « maquette fil de fer » en français) est la suite logique du zoning. Chaque bloc réalisé lors de l’étape précédente se voit doté d’image(s), de texte(s) ou de vidéo(s). Ce contenu peut être fictif car les informations finales ne sont pas toujours connues à ce stade du projet.</a:t>
            </a:r>
          </a:p>
          <a:p>
            <a:pPr fontAlgn="base"/>
            <a:r>
              <a:rPr lang="fr-FR" dirty="0"/>
              <a:t>L’objectif est de définir l’organisation des éléments et des formes sans travailler l’aspect visuel, le graphisme n’interviendra que plus tard. On se base davantage sur les standards et souhaits ergonomiques pour orienter la réflexion.</a:t>
            </a:r>
          </a:p>
          <a:p>
            <a:endParaRPr lang="fr-MA" dirty="0"/>
          </a:p>
        </p:txBody>
      </p:sp>
    </p:spTree>
    <p:extLst>
      <p:ext uri="{BB962C8B-B14F-4D97-AF65-F5344CB8AC3E}">
        <p14:creationId xmlns:p14="http://schemas.microsoft.com/office/powerpoint/2010/main" val="154502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DA5CA1-0120-4CB5-86F4-090DAD902600}"/>
              </a:ext>
            </a:extLst>
          </p:cNvPr>
          <p:cNvSpPr>
            <a:spLocks noGrp="1"/>
          </p:cNvSpPr>
          <p:nvPr>
            <p:ph type="title"/>
          </p:nvPr>
        </p:nvSpPr>
        <p:spPr>
          <a:xfrm>
            <a:off x="1295402" y="982662"/>
            <a:ext cx="9601196" cy="1303867"/>
          </a:xfrm>
        </p:spPr>
        <p:txBody>
          <a:bodyPr/>
          <a:lstStyle/>
          <a:p>
            <a:r>
              <a:rPr lang="fr-MA" dirty="0"/>
              <a:t>Exemple 2</a:t>
            </a:r>
          </a:p>
        </p:txBody>
      </p:sp>
      <p:pic>
        <p:nvPicPr>
          <p:cNvPr id="5" name="Espace réservé du contenu 4">
            <a:extLst>
              <a:ext uri="{FF2B5EF4-FFF2-40B4-BE49-F238E27FC236}">
                <a16:creationId xmlns:a16="http://schemas.microsoft.com/office/drawing/2014/main" id="{DCC5AC85-DF39-4A33-90CD-4E6549462D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2" y="2616463"/>
            <a:ext cx="9601196" cy="3317875"/>
          </a:xfrm>
        </p:spPr>
      </p:pic>
    </p:spTree>
    <p:extLst>
      <p:ext uri="{BB962C8B-B14F-4D97-AF65-F5344CB8AC3E}">
        <p14:creationId xmlns:p14="http://schemas.microsoft.com/office/powerpoint/2010/main" val="132508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932735-AD5D-4215-B2B9-BD9B5838DD61}"/>
              </a:ext>
            </a:extLst>
          </p:cNvPr>
          <p:cNvSpPr>
            <a:spLocks noGrp="1"/>
          </p:cNvSpPr>
          <p:nvPr>
            <p:ph type="title"/>
          </p:nvPr>
        </p:nvSpPr>
        <p:spPr/>
        <p:txBody>
          <a:bodyPr>
            <a:normAutofit fontScale="90000"/>
          </a:bodyPr>
          <a:lstStyle/>
          <a:p>
            <a:r>
              <a:rPr lang="fr-MA" dirty="0"/>
              <a:t>Qu’est-ce qu’un </a:t>
            </a:r>
            <a:r>
              <a:rPr lang="fr-MA" dirty="0" err="1"/>
              <a:t>Mockup</a:t>
            </a:r>
            <a:r>
              <a:rPr lang="fr-MA" dirty="0"/>
              <a:t> ?</a:t>
            </a:r>
            <a:br>
              <a:rPr lang="fr-MA" dirty="0"/>
            </a:br>
            <a:endParaRPr lang="fr-MA" dirty="0"/>
          </a:p>
        </p:txBody>
      </p:sp>
      <p:sp>
        <p:nvSpPr>
          <p:cNvPr id="3" name="Espace réservé du contenu 2">
            <a:extLst>
              <a:ext uri="{FF2B5EF4-FFF2-40B4-BE49-F238E27FC236}">
                <a16:creationId xmlns:a16="http://schemas.microsoft.com/office/drawing/2014/main" id="{E2BDFCA9-4BAC-4967-8C77-9F846E9A74EA}"/>
              </a:ext>
            </a:extLst>
          </p:cNvPr>
          <p:cNvSpPr>
            <a:spLocks noGrp="1"/>
          </p:cNvSpPr>
          <p:nvPr>
            <p:ph idx="1"/>
          </p:nvPr>
        </p:nvSpPr>
        <p:spPr/>
        <p:txBody>
          <a:bodyPr/>
          <a:lstStyle/>
          <a:p>
            <a:r>
              <a:rPr lang="fr-FR" dirty="0"/>
              <a:t>Un </a:t>
            </a:r>
            <a:r>
              <a:rPr lang="fr-FR" b="1" dirty="0" err="1"/>
              <a:t>mockup</a:t>
            </a:r>
            <a:r>
              <a:rPr lang="fr-FR" dirty="0"/>
              <a:t> est une image d’interface qui a été transformée en page HTML dynamique et navigable (opération réalisée via des logiciels de conception d’interfaces). Ce nouveau format autorise l’insertion de liens vers des pages notamment. Il permet aussi de rendre un formulaire fonctionnel afin d’effectuer des simulations. Grâce à l’intégration des exigences techniques, les messages de confirmation ou d’erreur apparaissent. Autant d’actions, qui, même si elles restent sommaires, sont utiles au client pour se projeter davantage.</a:t>
            </a:r>
            <a:endParaRPr lang="fr-MA" dirty="0"/>
          </a:p>
        </p:txBody>
      </p:sp>
    </p:spTree>
    <p:extLst>
      <p:ext uri="{BB962C8B-B14F-4D97-AF65-F5344CB8AC3E}">
        <p14:creationId xmlns:p14="http://schemas.microsoft.com/office/powerpoint/2010/main" val="44255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D2F7AF-C7AE-471A-B763-32F7F637B475}"/>
              </a:ext>
            </a:extLst>
          </p:cNvPr>
          <p:cNvSpPr>
            <a:spLocks noGrp="1"/>
          </p:cNvSpPr>
          <p:nvPr>
            <p:ph type="title"/>
          </p:nvPr>
        </p:nvSpPr>
        <p:spPr/>
        <p:txBody>
          <a:bodyPr/>
          <a:lstStyle/>
          <a:p>
            <a:r>
              <a:rPr lang="fr-MA" dirty="0"/>
              <a:t>Exemple 3</a:t>
            </a:r>
          </a:p>
        </p:txBody>
      </p:sp>
      <p:pic>
        <p:nvPicPr>
          <p:cNvPr id="5" name="Espace réservé du contenu 4">
            <a:extLst>
              <a:ext uri="{FF2B5EF4-FFF2-40B4-BE49-F238E27FC236}">
                <a16:creationId xmlns:a16="http://schemas.microsoft.com/office/drawing/2014/main" id="{561AF4F2-4724-43C2-90F8-C77755A55A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3131" y="2557463"/>
            <a:ext cx="9181706" cy="3317875"/>
          </a:xfrm>
        </p:spPr>
      </p:pic>
    </p:spTree>
    <p:extLst>
      <p:ext uri="{BB962C8B-B14F-4D97-AF65-F5344CB8AC3E}">
        <p14:creationId xmlns:p14="http://schemas.microsoft.com/office/powerpoint/2010/main" val="220928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944A6D-69D3-4352-9B12-E898B221CE44}"/>
              </a:ext>
            </a:extLst>
          </p:cNvPr>
          <p:cNvSpPr>
            <a:spLocks noGrp="1"/>
          </p:cNvSpPr>
          <p:nvPr>
            <p:ph type="title"/>
          </p:nvPr>
        </p:nvSpPr>
        <p:spPr/>
        <p:txBody>
          <a:bodyPr/>
          <a:lstStyle/>
          <a:p>
            <a:r>
              <a:rPr lang="fr-MA" dirty="0"/>
              <a:t>Une maquette</a:t>
            </a:r>
          </a:p>
        </p:txBody>
      </p:sp>
      <p:sp>
        <p:nvSpPr>
          <p:cNvPr id="3" name="Espace réservé du contenu 2">
            <a:extLst>
              <a:ext uri="{FF2B5EF4-FFF2-40B4-BE49-F238E27FC236}">
                <a16:creationId xmlns:a16="http://schemas.microsoft.com/office/drawing/2014/main" id="{32466932-B522-4E9F-9D44-D885D0F09D6F}"/>
              </a:ext>
            </a:extLst>
          </p:cNvPr>
          <p:cNvSpPr>
            <a:spLocks noGrp="1"/>
          </p:cNvSpPr>
          <p:nvPr>
            <p:ph idx="1"/>
          </p:nvPr>
        </p:nvSpPr>
        <p:spPr/>
        <p:txBody>
          <a:bodyPr>
            <a:normAutofit lnSpcReduction="10000"/>
          </a:bodyPr>
          <a:lstStyle/>
          <a:p>
            <a:r>
              <a:rPr lang="fr-FR" dirty="0"/>
              <a:t>Une maquette permet d’intégrer la dimension interactive. Ainsi, des liens peuvent être faits afin de montrer la navigation entre les différentes pages, et il est possible de simuler la connexion à un compte utilisateur, les erreurs lors de la saisie d’un formulaire, des carrousels d’images, etc. Une maquette permet donc d’aboutir à des simulations très puissantes (même si cela dépend du logiciel utilisé), souvent exploitables à partir d’un navigateur Web.</a:t>
            </a:r>
          </a:p>
          <a:p>
            <a:r>
              <a:rPr lang="fr-FR" dirty="0"/>
              <a:t>Dans un premier temps, des interactions riches entre l’utilisateur et l’application sont mises en place. Ensuite, le design peut éventuellement être intégré.</a:t>
            </a:r>
          </a:p>
          <a:p>
            <a:endParaRPr lang="fr-MA" dirty="0"/>
          </a:p>
        </p:txBody>
      </p:sp>
    </p:spTree>
    <p:extLst>
      <p:ext uri="{BB962C8B-B14F-4D97-AF65-F5344CB8AC3E}">
        <p14:creationId xmlns:p14="http://schemas.microsoft.com/office/powerpoint/2010/main" val="102635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style.rotation</p:attrName>
                                        </p:attrNameLst>
                                      </p:cBhvr>
                                      <p:tavLst>
                                        <p:tav tm="0">
                                          <p:val>
                                            <p:fltVal val="0"/>
                                          </p:val>
                                        </p:tav>
                                        <p:tav tm="100000">
                                          <p:val>
                                            <p:fltVal val="90"/>
                                          </p:val>
                                        </p:tav>
                                      </p:tavLst>
                                    </p:anim>
                                    <p:animEffect transition="out" filter="fade">
                                      <p:cBhvr>
                                        <p:cTn id="9" dur="1000"/>
                                        <p:tgtEl>
                                          <p:spTgt spid="2"/>
                                        </p:tgtEl>
                                      </p:cBhvr>
                                    </p:animEffect>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846284-6E64-4FCE-8B11-0559EDD2CF34}"/>
              </a:ext>
            </a:extLst>
          </p:cNvPr>
          <p:cNvSpPr>
            <a:spLocks noGrp="1"/>
          </p:cNvSpPr>
          <p:nvPr>
            <p:ph type="title"/>
          </p:nvPr>
        </p:nvSpPr>
        <p:spPr/>
        <p:txBody>
          <a:bodyPr>
            <a:normAutofit fontScale="90000"/>
          </a:bodyPr>
          <a:lstStyle/>
          <a:p>
            <a:r>
              <a:rPr lang="fr-MA" dirty="0"/>
              <a:t>Prototype</a:t>
            </a:r>
            <a:br>
              <a:rPr lang="fr-MA" dirty="0"/>
            </a:br>
            <a:endParaRPr lang="fr-MA" dirty="0"/>
          </a:p>
        </p:txBody>
      </p:sp>
      <p:sp>
        <p:nvSpPr>
          <p:cNvPr id="3" name="Espace réservé du contenu 2">
            <a:extLst>
              <a:ext uri="{FF2B5EF4-FFF2-40B4-BE49-F238E27FC236}">
                <a16:creationId xmlns:a16="http://schemas.microsoft.com/office/drawing/2014/main" id="{24A55FC8-65FE-47A1-A759-0A121654B221}"/>
              </a:ext>
            </a:extLst>
          </p:cNvPr>
          <p:cNvSpPr>
            <a:spLocks noGrp="1"/>
          </p:cNvSpPr>
          <p:nvPr>
            <p:ph idx="1"/>
          </p:nvPr>
        </p:nvSpPr>
        <p:spPr/>
        <p:txBody>
          <a:bodyPr/>
          <a:lstStyle/>
          <a:p>
            <a:r>
              <a:rPr lang="fr-FR" dirty="0"/>
              <a:t>Un prototype présente des pages fonctionnelles (cliquables et interactives) pouvant être testées par l’utilisateur final. Cette étape permet de vérifier que le scénario est complet et que les interactions sont optimisées. Le proto peut servir à tester plusieurs approches technologiques ou bien à servir de socle fonctionnel au projet applicatif.</a:t>
            </a:r>
            <a:endParaRPr lang="fr-MA" dirty="0"/>
          </a:p>
        </p:txBody>
      </p:sp>
    </p:spTree>
    <p:extLst>
      <p:ext uri="{BB962C8B-B14F-4D97-AF65-F5344CB8AC3E}">
        <p14:creationId xmlns:p14="http://schemas.microsoft.com/office/powerpoint/2010/main" val="341032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4577BD-9C38-4DAF-ACFE-C1B57CEE1279}"/>
              </a:ext>
            </a:extLst>
          </p:cNvPr>
          <p:cNvSpPr>
            <a:spLocks noGrp="1"/>
          </p:cNvSpPr>
          <p:nvPr>
            <p:ph type="title"/>
          </p:nvPr>
        </p:nvSpPr>
        <p:spPr/>
        <p:txBody>
          <a:bodyPr/>
          <a:lstStyle/>
          <a:p>
            <a:r>
              <a:rPr lang="fr-MA" dirty="0"/>
              <a:t>Exemple 4</a:t>
            </a:r>
          </a:p>
        </p:txBody>
      </p:sp>
      <p:pic>
        <p:nvPicPr>
          <p:cNvPr id="5" name="Espace réservé du contenu 4">
            <a:extLst>
              <a:ext uri="{FF2B5EF4-FFF2-40B4-BE49-F238E27FC236}">
                <a16:creationId xmlns:a16="http://schemas.microsoft.com/office/drawing/2014/main" id="{B96E3C81-343B-4E4D-BFED-B502C21B2B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728" y="2557463"/>
            <a:ext cx="9219414" cy="3437984"/>
          </a:xfrm>
        </p:spPr>
      </p:pic>
    </p:spTree>
    <p:extLst>
      <p:ext uri="{BB962C8B-B14F-4D97-AF65-F5344CB8AC3E}">
        <p14:creationId xmlns:p14="http://schemas.microsoft.com/office/powerpoint/2010/main" val="405172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que">
  <a:themeElements>
    <a:clrScheme name="Organique">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que">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que">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245</TotalTime>
  <Words>456</Words>
  <Application>Microsoft Office PowerPoint</Application>
  <PresentationFormat>Grand écran</PresentationFormat>
  <Paragraphs>19</Paragraphs>
  <Slides>10</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Garamond</vt:lpstr>
      <vt:lpstr>Organique</vt:lpstr>
      <vt:lpstr>la différence entre : </vt:lpstr>
      <vt:lpstr>Qu’est-ce qu’un zoning ? </vt:lpstr>
      <vt:lpstr>Exemple 1</vt:lpstr>
      <vt:lpstr>QU’EST-CE QUE LE WIREFRAME ?</vt:lpstr>
      <vt:lpstr>Exemple 2</vt:lpstr>
      <vt:lpstr>Qu’est-ce qu’un Mockup ? </vt:lpstr>
      <vt:lpstr>Exemple 3</vt:lpstr>
      <vt:lpstr>Une maquette</vt:lpstr>
      <vt:lpstr>Prototype </vt:lpstr>
      <vt:lpstr>Exemple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différence entre : </dc:title>
  <dc:creator>elmehdi abouloualid</dc:creator>
  <cp:lastModifiedBy>elmehdi abouloualid</cp:lastModifiedBy>
  <cp:revision>10</cp:revision>
  <dcterms:created xsi:type="dcterms:W3CDTF">2019-11-25T10:08:59Z</dcterms:created>
  <dcterms:modified xsi:type="dcterms:W3CDTF">2019-11-25T14:14:56Z</dcterms:modified>
</cp:coreProperties>
</file>